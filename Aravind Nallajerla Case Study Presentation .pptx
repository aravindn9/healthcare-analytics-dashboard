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66a72b87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66a72b87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d0714bd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d0714bd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66a72b87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66a72b8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d0714bd9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d0714bd9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66a72b87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66a72b87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66a72b87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666a72b87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hyperlink" Target="mailto:nallajerlaaravind036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pol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1850" y="141525"/>
            <a:ext cx="905475" cy="9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 flipH="1" rot="10800000">
            <a:off x="0" y="2075"/>
            <a:ext cx="306600" cy="285000"/>
          </a:xfrm>
          <a:prstGeom prst="rtTriangle">
            <a:avLst/>
          </a:prstGeom>
          <a:solidFill>
            <a:srgbClr val="FCB716"/>
          </a:solidFill>
          <a:ln cap="flat" cmpd="sng" w="9525">
            <a:solidFill>
              <a:srgbClr val="FCB71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" name="Google Shape;56;p13"/>
          <p:cNvCxnSpPr/>
          <p:nvPr/>
        </p:nvCxnSpPr>
        <p:spPr>
          <a:xfrm rot="10800000">
            <a:off x="792200" y="1171004"/>
            <a:ext cx="2100" cy="2743200"/>
          </a:xfrm>
          <a:prstGeom prst="straightConnector1">
            <a:avLst/>
          </a:prstGeom>
          <a:noFill/>
          <a:ln cap="flat" cmpd="sng" w="19050">
            <a:solidFill>
              <a:srgbClr val="007C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1351100" y="1592175"/>
            <a:ext cx="5465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2"/>
                </a:solidFill>
              </a:rPr>
              <a:t>Sales Data Analysis Case Study</a:t>
            </a:r>
            <a:endParaRPr b="1" sz="40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828450" y="3484700"/>
            <a:ext cx="4431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-"/>
            </a:pPr>
            <a:r>
              <a:rPr b="1" lang="en" sz="2000">
                <a:solidFill>
                  <a:schemeClr val="dk2"/>
                </a:solidFill>
              </a:rPr>
              <a:t>Aravind N</a:t>
            </a:r>
            <a:endParaRPr b="1"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apol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1850" y="141525"/>
            <a:ext cx="905475" cy="9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 flipH="1" rot="10800000">
            <a:off x="0" y="2075"/>
            <a:ext cx="306600" cy="285000"/>
          </a:xfrm>
          <a:prstGeom prst="rtTriangle">
            <a:avLst/>
          </a:prstGeom>
          <a:solidFill>
            <a:srgbClr val="FCB716"/>
          </a:solidFill>
          <a:ln cap="flat" cmpd="sng" w="9525">
            <a:solidFill>
              <a:srgbClr val="FCB71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599025" y="1043650"/>
            <a:ext cx="7735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➢"/>
            </a:pPr>
            <a:r>
              <a:rPr b="1" lang="en" sz="1500">
                <a:solidFill>
                  <a:schemeClr val="dk2"/>
                </a:solidFill>
              </a:rPr>
              <a:t>Data covers 6 months:</a:t>
            </a:r>
            <a:r>
              <a:rPr lang="en" sz="1500">
                <a:solidFill>
                  <a:schemeClr val="dk2"/>
                </a:solidFill>
              </a:rPr>
              <a:t> July 2022 to December 2022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➢"/>
            </a:pPr>
            <a:r>
              <a:rPr b="1" lang="en" sz="1500">
                <a:solidFill>
                  <a:schemeClr val="dk2"/>
                </a:solidFill>
              </a:rPr>
              <a:t>Total revenue: </a:t>
            </a:r>
            <a:r>
              <a:rPr lang="en" sz="1500">
                <a:solidFill>
                  <a:schemeClr val="dk2"/>
                </a:solidFill>
              </a:rPr>
              <a:t>₹3,51,522 lakhs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➢"/>
            </a:pPr>
            <a:r>
              <a:rPr b="1" lang="en" sz="1500">
                <a:solidFill>
                  <a:schemeClr val="dk2"/>
                </a:solidFill>
              </a:rPr>
              <a:t>December 2022</a:t>
            </a:r>
            <a:r>
              <a:rPr lang="en" sz="1500">
                <a:solidFill>
                  <a:schemeClr val="dk2"/>
                </a:solidFill>
              </a:rPr>
              <a:t> contributed the highest revenue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➢"/>
            </a:pPr>
            <a:r>
              <a:rPr b="1" lang="en" sz="1500">
                <a:solidFill>
                  <a:schemeClr val="dk2"/>
                </a:solidFill>
              </a:rPr>
              <a:t>Discounts offered:</a:t>
            </a:r>
            <a:r>
              <a:rPr lang="en" sz="1500">
                <a:solidFill>
                  <a:schemeClr val="dk2"/>
                </a:solidFill>
              </a:rPr>
              <a:t> ₹34,898 lakhs → </a:t>
            </a:r>
            <a:r>
              <a:rPr b="1" lang="en" sz="1500">
                <a:solidFill>
                  <a:schemeClr val="dk2"/>
                </a:solidFill>
              </a:rPr>
              <a:t>Net revenue:</a:t>
            </a:r>
            <a:r>
              <a:rPr lang="en" sz="1500">
                <a:solidFill>
                  <a:schemeClr val="dk2"/>
                </a:solidFill>
              </a:rPr>
              <a:t> ₹3,16,624 lakhs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➢"/>
            </a:pPr>
            <a:r>
              <a:rPr b="1" lang="en" sz="1500">
                <a:solidFill>
                  <a:schemeClr val="dk2"/>
                </a:solidFill>
              </a:rPr>
              <a:t>July 2022:</a:t>
            </a:r>
            <a:r>
              <a:rPr lang="en" sz="1500">
                <a:solidFill>
                  <a:schemeClr val="dk2"/>
                </a:solidFill>
              </a:rPr>
              <a:t> Lower revenue, but higher net revenue than September, October, and November (due to fewer discounts)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➢"/>
            </a:pPr>
            <a:r>
              <a:rPr b="1" lang="en" sz="1500">
                <a:solidFill>
                  <a:schemeClr val="dk2"/>
                </a:solidFill>
              </a:rPr>
              <a:t>August 2022:</a:t>
            </a:r>
            <a:r>
              <a:rPr lang="en" sz="1500">
                <a:solidFill>
                  <a:schemeClr val="dk2"/>
                </a:solidFill>
              </a:rPr>
              <a:t> Highest discount percentage across all months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➢"/>
            </a:pPr>
            <a:r>
              <a:rPr b="1" lang="en" sz="1500">
                <a:solidFill>
                  <a:schemeClr val="dk2"/>
                </a:solidFill>
              </a:rPr>
              <a:t>Type 4 SKUs: </a:t>
            </a:r>
            <a:r>
              <a:rPr lang="en" sz="1500">
                <a:solidFill>
                  <a:schemeClr val="dk2"/>
                </a:solidFill>
              </a:rPr>
              <a:t>Contributed 94% of total revenue</a:t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66" name="Google Shape;66;p14"/>
          <p:cNvCxnSpPr/>
          <p:nvPr/>
        </p:nvCxnSpPr>
        <p:spPr>
          <a:xfrm flipH="1">
            <a:off x="1019033" y="871010"/>
            <a:ext cx="6794400" cy="17400"/>
          </a:xfrm>
          <a:prstGeom prst="straightConnector1">
            <a:avLst/>
          </a:prstGeom>
          <a:noFill/>
          <a:ln cap="flat" cmpd="sng" w="19050">
            <a:solidFill>
              <a:srgbClr val="007C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 txBox="1"/>
          <p:nvPr/>
        </p:nvSpPr>
        <p:spPr>
          <a:xfrm>
            <a:off x="1012025" y="194063"/>
            <a:ext cx="637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</a:rPr>
              <a:t>Overview</a:t>
            </a:r>
            <a:endParaRPr b="1" sz="3000">
              <a:solidFill>
                <a:schemeClr val="dk2"/>
              </a:solidFill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2498" y="3322900"/>
            <a:ext cx="3515225" cy="137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Screenshot 2025-09-28 19385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9025" y="3322900"/>
            <a:ext cx="3515225" cy="135013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1327500" y="3727500"/>
            <a:ext cx="1477500" cy="607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5259900" y="3704525"/>
            <a:ext cx="3197700" cy="6075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2129938" y="3075550"/>
            <a:ext cx="141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Sorted by Revenue</a:t>
            </a:r>
            <a:endParaRPr i="1" sz="10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5953954" y="3075550"/>
            <a:ext cx="180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Sorted by Net Revenue</a:t>
            </a:r>
            <a:endParaRPr i="1"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 title="apol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1850" y="141525"/>
            <a:ext cx="905475" cy="9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 flipH="1" rot="10800000">
            <a:off x="0" y="2075"/>
            <a:ext cx="306600" cy="285000"/>
          </a:xfrm>
          <a:prstGeom prst="rtTriangle">
            <a:avLst/>
          </a:prstGeom>
          <a:solidFill>
            <a:srgbClr val="FCB716"/>
          </a:solidFill>
          <a:ln cap="flat" cmpd="sng" w="9525">
            <a:solidFill>
              <a:srgbClr val="FCB71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0" name="Google Shape;80;p15"/>
          <p:cNvCxnSpPr/>
          <p:nvPr/>
        </p:nvCxnSpPr>
        <p:spPr>
          <a:xfrm flipH="1">
            <a:off x="1019033" y="871010"/>
            <a:ext cx="6794400" cy="17400"/>
          </a:xfrm>
          <a:prstGeom prst="straightConnector1">
            <a:avLst/>
          </a:prstGeom>
          <a:noFill/>
          <a:ln cap="flat" cmpd="sng" w="19050">
            <a:solidFill>
              <a:srgbClr val="007C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15"/>
          <p:cNvSpPr txBox="1"/>
          <p:nvPr/>
        </p:nvSpPr>
        <p:spPr>
          <a:xfrm>
            <a:off x="1012025" y="194063"/>
            <a:ext cx="637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</a:rPr>
              <a:t>Geography Analysis</a:t>
            </a:r>
            <a:endParaRPr b="1" sz="3000">
              <a:solidFill>
                <a:schemeClr val="dk2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99025" y="1043650"/>
            <a:ext cx="7735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" sz="1500">
                <a:solidFill>
                  <a:schemeClr val="dk2"/>
                </a:solidFill>
              </a:rPr>
              <a:t>The</a:t>
            </a:r>
            <a:r>
              <a:rPr lang="en" sz="1500">
                <a:solidFill>
                  <a:schemeClr val="dk2"/>
                </a:solidFill>
              </a:rPr>
              <a:t> top performing geography is </a:t>
            </a:r>
            <a:r>
              <a:rPr b="1" lang="en" sz="1500">
                <a:solidFill>
                  <a:srgbClr val="007C9D"/>
                </a:solidFill>
              </a:rPr>
              <a:t>Geography 5</a:t>
            </a:r>
            <a:endParaRPr b="1" sz="1500">
              <a:solidFill>
                <a:srgbClr val="007C9D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" sz="1500">
                <a:solidFill>
                  <a:schemeClr val="dk2"/>
                </a:solidFill>
              </a:rPr>
              <a:t>The descending order of geographies in terms of revenue </a:t>
            </a:r>
            <a:r>
              <a:rPr lang="en" sz="1500">
                <a:solidFill>
                  <a:schemeClr val="dk2"/>
                </a:solidFill>
              </a:rPr>
              <a:t>5,</a:t>
            </a:r>
            <a:r>
              <a:rPr lang="en" sz="1500">
                <a:solidFill>
                  <a:srgbClr val="007C9D"/>
                </a:solidFill>
              </a:rPr>
              <a:t>6</a:t>
            </a:r>
            <a:r>
              <a:rPr lang="en" sz="1500">
                <a:solidFill>
                  <a:srgbClr val="007C9D"/>
                </a:solidFill>
              </a:rPr>
              <a:t>,</a:t>
            </a:r>
            <a:r>
              <a:rPr lang="en" sz="1500">
                <a:solidFill>
                  <a:srgbClr val="007C9D"/>
                </a:solidFill>
              </a:rPr>
              <a:t>3</a:t>
            </a:r>
            <a:r>
              <a:rPr lang="en" sz="1500">
                <a:solidFill>
                  <a:schemeClr val="dk2"/>
                </a:solidFill>
              </a:rPr>
              <a:t>,</a:t>
            </a:r>
            <a:r>
              <a:rPr lang="en" sz="1500">
                <a:solidFill>
                  <a:schemeClr val="dk2"/>
                </a:solidFill>
              </a:rPr>
              <a:t>1</a:t>
            </a:r>
            <a:r>
              <a:rPr lang="en" sz="1500">
                <a:solidFill>
                  <a:schemeClr val="dk2"/>
                </a:solidFill>
              </a:rPr>
              <a:t>,</a:t>
            </a:r>
            <a:r>
              <a:rPr lang="en" sz="1500">
                <a:solidFill>
                  <a:schemeClr val="dk2"/>
                </a:solidFill>
              </a:rPr>
              <a:t>4,2</a:t>
            </a:r>
            <a:br>
              <a:rPr lang="en" sz="1500">
                <a:solidFill>
                  <a:schemeClr val="dk2"/>
                </a:solidFill>
              </a:rPr>
            </a:br>
            <a:r>
              <a:rPr lang="en" sz="1500">
                <a:solidFill>
                  <a:schemeClr val="dk2"/>
                </a:solidFill>
              </a:rPr>
              <a:t>But in terms of net revenue 5,</a:t>
            </a:r>
            <a:r>
              <a:rPr lang="en" sz="1500">
                <a:solidFill>
                  <a:srgbClr val="007C9D"/>
                </a:solidFill>
              </a:rPr>
              <a:t>3,6</a:t>
            </a:r>
            <a:r>
              <a:rPr lang="en" sz="1500">
                <a:solidFill>
                  <a:schemeClr val="dk2"/>
                </a:solidFill>
              </a:rPr>
              <a:t>,1,4,2 because Geography 6 offered the most discounts overall &amp; each month.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➢"/>
            </a:pPr>
            <a:r>
              <a:rPr lang="en" sz="1500">
                <a:solidFill>
                  <a:schemeClr val="dk2"/>
                </a:solidFill>
              </a:rPr>
              <a:t>The order of geographies remains same for overall &amp; monthly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400" y="2854125"/>
            <a:ext cx="3830100" cy="19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4900" y="2854125"/>
            <a:ext cx="3793219" cy="197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6" title="apol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1850" y="141525"/>
            <a:ext cx="905475" cy="9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/>
          <p:nvPr/>
        </p:nvSpPr>
        <p:spPr>
          <a:xfrm flipH="1" rot="10800000">
            <a:off x="0" y="2075"/>
            <a:ext cx="306600" cy="285000"/>
          </a:xfrm>
          <a:prstGeom prst="rtTriangle">
            <a:avLst/>
          </a:prstGeom>
          <a:solidFill>
            <a:srgbClr val="FCB716"/>
          </a:solidFill>
          <a:ln cap="flat" cmpd="sng" w="9525">
            <a:solidFill>
              <a:srgbClr val="FCB71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16"/>
          <p:cNvCxnSpPr/>
          <p:nvPr/>
        </p:nvCxnSpPr>
        <p:spPr>
          <a:xfrm flipH="1">
            <a:off x="1019033" y="871010"/>
            <a:ext cx="6794400" cy="17400"/>
          </a:xfrm>
          <a:prstGeom prst="straightConnector1">
            <a:avLst/>
          </a:prstGeom>
          <a:noFill/>
          <a:ln cap="flat" cmpd="sng" w="19050">
            <a:solidFill>
              <a:srgbClr val="007C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6"/>
          <p:cNvSpPr txBox="1"/>
          <p:nvPr/>
        </p:nvSpPr>
        <p:spPr>
          <a:xfrm>
            <a:off x="1012025" y="194063"/>
            <a:ext cx="637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</a:rPr>
              <a:t>Geography Analysis</a:t>
            </a:r>
            <a:endParaRPr b="1" sz="3000">
              <a:solidFill>
                <a:schemeClr val="dk2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599025" y="1043650"/>
            <a:ext cx="773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➢"/>
            </a:pPr>
            <a:r>
              <a:rPr lang="en" sz="1500">
                <a:solidFill>
                  <a:srgbClr val="007C9D"/>
                </a:solidFill>
              </a:rPr>
              <a:t>From Jul to Dec 22’</a:t>
            </a:r>
            <a:r>
              <a:rPr lang="en" sz="1500">
                <a:solidFill>
                  <a:schemeClr val="dk2"/>
                </a:solidFill>
              </a:rPr>
              <a:t> the </a:t>
            </a:r>
            <a:r>
              <a:rPr lang="en" sz="1500">
                <a:solidFill>
                  <a:srgbClr val="007C9D"/>
                </a:solidFill>
              </a:rPr>
              <a:t>stores from rural areas </a:t>
            </a:r>
            <a:r>
              <a:rPr lang="en" sz="1500">
                <a:solidFill>
                  <a:schemeClr val="dk2"/>
                </a:solidFill>
              </a:rPr>
              <a:t>experienced a dip in net revenue </a:t>
            </a:r>
            <a:r>
              <a:rPr b="1" lang="en" sz="1500">
                <a:solidFill>
                  <a:srgbClr val="007C9D"/>
                </a:solidFill>
              </a:rPr>
              <a:t>(-4%) </a:t>
            </a:r>
            <a:r>
              <a:rPr lang="en" sz="1500">
                <a:solidFill>
                  <a:schemeClr val="dk2"/>
                </a:solidFill>
              </a:rPr>
              <a:t>whereas </a:t>
            </a:r>
            <a:r>
              <a:rPr lang="en" sz="1500">
                <a:solidFill>
                  <a:srgbClr val="007C9D"/>
                </a:solidFill>
              </a:rPr>
              <a:t>urban stores</a:t>
            </a:r>
            <a:r>
              <a:rPr lang="en" sz="1500">
                <a:solidFill>
                  <a:schemeClr val="dk2"/>
                </a:solidFill>
              </a:rPr>
              <a:t> shown a growth </a:t>
            </a:r>
            <a:r>
              <a:rPr b="1" lang="en" sz="1500">
                <a:solidFill>
                  <a:srgbClr val="007C9D"/>
                </a:solidFill>
              </a:rPr>
              <a:t>(+3.4%)</a:t>
            </a:r>
            <a:endParaRPr b="1" sz="1500">
              <a:solidFill>
                <a:srgbClr val="007C9D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➢"/>
            </a:pPr>
            <a:r>
              <a:rPr lang="en" sz="1500">
                <a:solidFill>
                  <a:srgbClr val="007C9D"/>
                </a:solidFill>
              </a:rPr>
              <a:t>Geographies 1 (-1.4%),3 (-2.7%) &amp; 5 (-1.4%)</a:t>
            </a:r>
            <a:r>
              <a:rPr lang="en" sz="1500">
                <a:solidFill>
                  <a:schemeClr val="dk2"/>
                </a:solidFill>
              </a:rPr>
              <a:t> experienced </a:t>
            </a:r>
            <a:r>
              <a:rPr lang="en" sz="1500">
                <a:solidFill>
                  <a:srgbClr val="007C9D"/>
                </a:solidFill>
              </a:rPr>
              <a:t>a dip</a:t>
            </a:r>
            <a:r>
              <a:rPr lang="en" sz="1500">
                <a:solidFill>
                  <a:schemeClr val="dk2"/>
                </a:solidFill>
              </a:rPr>
              <a:t> in net revenue, but rest of the </a:t>
            </a:r>
            <a:r>
              <a:rPr lang="en" sz="1500">
                <a:solidFill>
                  <a:srgbClr val="007C9D"/>
                </a:solidFill>
              </a:rPr>
              <a:t>geographies, 2 (+3.5%),4 (+14%) &amp; 6 (+4.2%) </a:t>
            </a:r>
            <a:r>
              <a:rPr lang="en" sz="1500">
                <a:solidFill>
                  <a:schemeClr val="dk2"/>
                </a:solidFill>
              </a:rPr>
              <a:t>shown a </a:t>
            </a:r>
            <a:r>
              <a:rPr lang="en" sz="1500">
                <a:solidFill>
                  <a:srgbClr val="007C9D"/>
                </a:solidFill>
              </a:rPr>
              <a:t>growth</a:t>
            </a:r>
            <a:r>
              <a:rPr b="1" lang="en" sz="1500">
                <a:solidFill>
                  <a:srgbClr val="007C9D"/>
                </a:solidFill>
              </a:rPr>
              <a:t> </a:t>
            </a:r>
            <a:endParaRPr b="1" sz="1500">
              <a:solidFill>
                <a:srgbClr val="007C9D"/>
              </a:solidFill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 rotWithShape="1">
          <a:blip r:embed="rId4">
            <a:alphaModFix/>
          </a:blip>
          <a:srcRect b="0" l="698" r="1022" t="5865"/>
          <a:stretch/>
        </p:blipFill>
        <p:spPr>
          <a:xfrm>
            <a:off x="844800" y="2307100"/>
            <a:ext cx="7333974" cy="10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1075" y="3440600"/>
            <a:ext cx="5396300" cy="16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 title="apol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1850" y="141525"/>
            <a:ext cx="905475" cy="9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 flipH="1" rot="10800000">
            <a:off x="0" y="2075"/>
            <a:ext cx="306600" cy="285000"/>
          </a:xfrm>
          <a:prstGeom prst="rtTriangle">
            <a:avLst/>
          </a:prstGeom>
          <a:solidFill>
            <a:srgbClr val="FCB716"/>
          </a:solidFill>
          <a:ln cap="flat" cmpd="sng" w="9525">
            <a:solidFill>
              <a:srgbClr val="FCB71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2" name="Google Shape;102;p17"/>
          <p:cNvCxnSpPr/>
          <p:nvPr/>
        </p:nvCxnSpPr>
        <p:spPr>
          <a:xfrm flipH="1">
            <a:off x="1019033" y="871010"/>
            <a:ext cx="6794400" cy="17400"/>
          </a:xfrm>
          <a:prstGeom prst="straightConnector1">
            <a:avLst/>
          </a:prstGeom>
          <a:noFill/>
          <a:ln cap="flat" cmpd="sng" w="19050">
            <a:solidFill>
              <a:srgbClr val="007C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7"/>
          <p:cNvSpPr txBox="1"/>
          <p:nvPr/>
        </p:nvSpPr>
        <p:spPr>
          <a:xfrm>
            <a:off x="1012025" y="194063"/>
            <a:ext cx="637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</a:rPr>
              <a:t>Disease</a:t>
            </a:r>
            <a:r>
              <a:rPr b="1" lang="en" sz="3000">
                <a:solidFill>
                  <a:schemeClr val="dk2"/>
                </a:solidFill>
              </a:rPr>
              <a:t> Analysis</a:t>
            </a:r>
            <a:endParaRPr b="1" sz="3000">
              <a:solidFill>
                <a:schemeClr val="dk2"/>
              </a:solidFill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3289" y="2538100"/>
            <a:ext cx="1731800" cy="238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5512" y="2538100"/>
            <a:ext cx="2085897" cy="14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2063" y="4121219"/>
            <a:ext cx="4067111" cy="8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7"/>
          <p:cNvSpPr txBox="1"/>
          <p:nvPr/>
        </p:nvSpPr>
        <p:spPr>
          <a:xfrm>
            <a:off x="599025" y="1043650"/>
            <a:ext cx="77355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" sz="1500">
                <a:solidFill>
                  <a:srgbClr val="007C9D"/>
                </a:solidFill>
              </a:rPr>
              <a:t>Acute</a:t>
            </a:r>
            <a:r>
              <a:rPr lang="en" sz="1500">
                <a:solidFill>
                  <a:schemeClr val="dk2"/>
                </a:solidFill>
              </a:rPr>
              <a:t> disease type has the most contribution </a:t>
            </a:r>
            <a:r>
              <a:rPr b="1" lang="en" sz="1500">
                <a:solidFill>
                  <a:srgbClr val="007C9D"/>
                </a:solidFill>
              </a:rPr>
              <a:t>~75%</a:t>
            </a:r>
            <a:r>
              <a:rPr lang="en" sz="1500">
                <a:solidFill>
                  <a:schemeClr val="dk2"/>
                </a:solidFill>
              </a:rPr>
              <a:t> of the total revenue</a:t>
            </a:r>
            <a:endParaRPr b="1" sz="1500">
              <a:solidFill>
                <a:srgbClr val="007C9D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SzPts val="1500"/>
              <a:buChar char="➢"/>
            </a:pPr>
            <a:r>
              <a:rPr lang="en" sz="1500">
                <a:solidFill>
                  <a:schemeClr val="dk2"/>
                </a:solidFill>
              </a:rPr>
              <a:t>Type 4 tops the chart with significant contribution of </a:t>
            </a:r>
            <a:r>
              <a:rPr b="1" lang="en" sz="1500">
                <a:solidFill>
                  <a:srgbClr val="007C9D"/>
                </a:solidFill>
              </a:rPr>
              <a:t>~72% </a:t>
            </a:r>
            <a:r>
              <a:rPr lang="en" sz="1500">
                <a:solidFill>
                  <a:schemeClr val="dk2"/>
                </a:solidFill>
              </a:rPr>
              <a:t>of the total revenue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➢"/>
            </a:pPr>
            <a:r>
              <a:rPr lang="en" sz="1500">
                <a:solidFill>
                  <a:schemeClr val="dk2"/>
                </a:solidFill>
              </a:rPr>
              <a:t>All type 2 diseases are chronic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➢"/>
            </a:pPr>
            <a:r>
              <a:rPr lang="en" sz="1500">
                <a:solidFill>
                  <a:srgbClr val="007C9D"/>
                </a:solidFill>
              </a:rPr>
              <a:t>From Jul to Dec 22’</a:t>
            </a:r>
            <a:r>
              <a:rPr lang="en" sz="1500">
                <a:solidFill>
                  <a:schemeClr val="dk2"/>
                </a:solidFill>
              </a:rPr>
              <a:t> the </a:t>
            </a:r>
            <a:r>
              <a:rPr lang="en" sz="1500">
                <a:solidFill>
                  <a:srgbClr val="007C9D"/>
                </a:solidFill>
              </a:rPr>
              <a:t>acute disease type </a:t>
            </a:r>
            <a:r>
              <a:rPr lang="en" sz="1500">
                <a:solidFill>
                  <a:schemeClr val="dk2"/>
                </a:solidFill>
              </a:rPr>
              <a:t>experienced a dip in net revenue </a:t>
            </a:r>
            <a:r>
              <a:rPr b="1" lang="en" sz="1500">
                <a:solidFill>
                  <a:srgbClr val="007C9D"/>
                </a:solidFill>
              </a:rPr>
              <a:t>(-3.6%) </a:t>
            </a:r>
            <a:r>
              <a:rPr lang="en" sz="1500">
                <a:solidFill>
                  <a:schemeClr val="dk2"/>
                </a:solidFill>
              </a:rPr>
              <a:t>whereas </a:t>
            </a:r>
            <a:r>
              <a:rPr lang="en" sz="1500">
                <a:solidFill>
                  <a:srgbClr val="007C9D"/>
                </a:solidFill>
              </a:rPr>
              <a:t>chronic diseases</a:t>
            </a:r>
            <a:r>
              <a:rPr lang="en" sz="1500">
                <a:solidFill>
                  <a:schemeClr val="dk2"/>
                </a:solidFill>
              </a:rPr>
              <a:t> shown significant growth </a:t>
            </a:r>
            <a:r>
              <a:rPr b="1" lang="en" sz="1500">
                <a:solidFill>
                  <a:srgbClr val="007C9D"/>
                </a:solidFill>
              </a:rPr>
              <a:t>(+13%)</a:t>
            </a:r>
            <a:endParaRPr b="1" sz="1500">
              <a:solidFill>
                <a:srgbClr val="007C9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8" title="apol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1850" y="141525"/>
            <a:ext cx="905475" cy="9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/>
          <p:nvPr/>
        </p:nvSpPr>
        <p:spPr>
          <a:xfrm flipH="1" rot="10800000">
            <a:off x="0" y="2075"/>
            <a:ext cx="306600" cy="285000"/>
          </a:xfrm>
          <a:prstGeom prst="rtTriangle">
            <a:avLst/>
          </a:prstGeom>
          <a:solidFill>
            <a:srgbClr val="FCB716"/>
          </a:solidFill>
          <a:ln cap="flat" cmpd="sng" w="9525">
            <a:solidFill>
              <a:srgbClr val="FCB71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18"/>
          <p:cNvCxnSpPr/>
          <p:nvPr/>
        </p:nvCxnSpPr>
        <p:spPr>
          <a:xfrm flipH="1">
            <a:off x="1019033" y="871010"/>
            <a:ext cx="6794400" cy="17400"/>
          </a:xfrm>
          <a:prstGeom prst="straightConnector1">
            <a:avLst/>
          </a:prstGeom>
          <a:noFill/>
          <a:ln cap="flat" cmpd="sng" w="19050">
            <a:solidFill>
              <a:srgbClr val="007C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8"/>
          <p:cNvSpPr txBox="1"/>
          <p:nvPr/>
        </p:nvSpPr>
        <p:spPr>
          <a:xfrm>
            <a:off x="1012025" y="194063"/>
            <a:ext cx="6374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2"/>
                </a:solidFill>
              </a:rPr>
              <a:t>Steps Performed</a:t>
            </a:r>
            <a:endParaRPr b="1" sz="3000">
              <a:solidFill>
                <a:schemeClr val="dk2"/>
              </a:solidFill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599025" y="1043650"/>
            <a:ext cx="77355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➢"/>
            </a:pPr>
            <a:r>
              <a:rPr lang="en" sz="1500">
                <a:solidFill>
                  <a:schemeClr val="dk2"/>
                </a:solidFill>
              </a:rPr>
              <a:t>Checked if the data needed cleaning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➢"/>
            </a:pPr>
            <a:r>
              <a:rPr lang="en" sz="1500">
                <a:solidFill>
                  <a:schemeClr val="dk2"/>
                </a:solidFill>
              </a:rPr>
              <a:t>Connected the data to Power BI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➢"/>
            </a:pPr>
            <a:r>
              <a:rPr lang="en" sz="1500">
                <a:solidFill>
                  <a:schemeClr val="dk2"/>
                </a:solidFill>
              </a:rPr>
              <a:t>Analyzed the data to understand key patterns and trends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➢"/>
            </a:pPr>
            <a:r>
              <a:rPr lang="en" sz="1500">
                <a:solidFill>
                  <a:schemeClr val="dk2"/>
                </a:solidFill>
              </a:rPr>
              <a:t>Brainstormed possible narratives and actionable insights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➢"/>
            </a:pPr>
            <a:r>
              <a:rPr lang="en" sz="1500">
                <a:solidFill>
                  <a:schemeClr val="dk2"/>
                </a:solidFill>
              </a:rPr>
              <a:t>User Personas: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○"/>
            </a:pPr>
            <a:r>
              <a:rPr lang="en" sz="1500">
                <a:solidFill>
                  <a:schemeClr val="dk2"/>
                </a:solidFill>
              </a:rPr>
              <a:t>Business Heads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○"/>
            </a:pPr>
            <a:r>
              <a:rPr lang="en" sz="1500">
                <a:solidFill>
                  <a:schemeClr val="dk2"/>
                </a:solidFill>
              </a:rPr>
              <a:t>Operations Managers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○"/>
            </a:pPr>
            <a:r>
              <a:rPr lang="en" sz="1500">
                <a:solidFill>
                  <a:schemeClr val="dk2"/>
                </a:solidFill>
              </a:rPr>
              <a:t>Leaders managing multiple geographies or stores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rgbClr val="007C9D"/>
              </a:buClr>
              <a:buSzPts val="1500"/>
              <a:buChar char="○"/>
            </a:pPr>
            <a:r>
              <a:rPr lang="en" sz="1500">
                <a:solidFill>
                  <a:schemeClr val="dk2"/>
                </a:solidFill>
              </a:rPr>
              <a:t>Product Marketing Managers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Challenges Faced</a:t>
            </a:r>
            <a:endParaRPr b="1"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➢"/>
            </a:pPr>
            <a:r>
              <a:rPr lang="en" sz="1500">
                <a:solidFill>
                  <a:schemeClr val="dk2"/>
                </a:solidFill>
              </a:rPr>
              <a:t>Balancing detailed data findings with a proper business story required iteration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➢"/>
            </a:pPr>
            <a:r>
              <a:rPr lang="en" sz="1500">
                <a:solidFill>
                  <a:schemeClr val="dk2"/>
                </a:solidFill>
              </a:rPr>
              <a:t>How I Overcame It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500">
                <a:solidFill>
                  <a:schemeClr val="dk2"/>
                </a:solidFill>
              </a:rPr>
              <a:t>I validated my narrative by discussing with peers in my network, which helped me refine the storyline to suit multiple stakeholders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 title="apol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1850" y="141525"/>
            <a:ext cx="905475" cy="9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/>
          <p:nvPr/>
        </p:nvSpPr>
        <p:spPr>
          <a:xfrm flipH="1" rot="10800000">
            <a:off x="0" y="2075"/>
            <a:ext cx="306600" cy="285000"/>
          </a:xfrm>
          <a:prstGeom prst="rtTriangle">
            <a:avLst/>
          </a:prstGeom>
          <a:solidFill>
            <a:srgbClr val="FCB716"/>
          </a:solidFill>
          <a:ln cap="flat" cmpd="sng" w="9525">
            <a:solidFill>
              <a:srgbClr val="FCB71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19"/>
          <p:cNvCxnSpPr/>
          <p:nvPr/>
        </p:nvCxnSpPr>
        <p:spPr>
          <a:xfrm rot="10800000">
            <a:off x="792200" y="1171004"/>
            <a:ext cx="2100" cy="2743200"/>
          </a:xfrm>
          <a:prstGeom prst="straightConnector1">
            <a:avLst/>
          </a:prstGeom>
          <a:noFill/>
          <a:ln cap="flat" cmpd="sng" w="19050">
            <a:solidFill>
              <a:srgbClr val="007C9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9"/>
          <p:cNvSpPr txBox="1"/>
          <p:nvPr/>
        </p:nvSpPr>
        <p:spPr>
          <a:xfrm>
            <a:off x="1351100" y="1592175"/>
            <a:ext cx="546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dk2"/>
                </a:solidFill>
              </a:rPr>
              <a:t>Thank You!</a:t>
            </a:r>
            <a:endParaRPr b="1" sz="4000">
              <a:solidFill>
                <a:schemeClr val="dk2"/>
              </a:solidFill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916375" y="3484700"/>
            <a:ext cx="600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2"/>
                </a:solidFill>
              </a:rPr>
              <a:t>Please feel free to write your feedback at </a:t>
            </a:r>
            <a:r>
              <a:rPr b="1" lang="en" sz="1000" u="sng">
                <a:solidFill>
                  <a:schemeClr val="hlink"/>
                </a:solidFill>
                <a:hlinkClick r:id="rId4"/>
              </a:rPr>
              <a:t>nallajerlaaravind036@gmail.com</a:t>
            </a:r>
            <a:endParaRPr b="1" sz="1000">
              <a:solidFill>
                <a:srgbClr val="007C9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